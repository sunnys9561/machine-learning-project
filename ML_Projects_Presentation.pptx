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164592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0"/>
            <a:ext cx="1645920" cy="2560320"/>
          </a:xfrm>
          <a:prstGeom prst="rect">
            <a:avLst/>
          </a:prstGeom>
          <a:solidFill>
            <a:srgbClr val="162D5A"/>
          </a:solidFill>
          <a:ln w="12700">
            <a:solidFill>
              <a:srgbClr val="162D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114800"/>
            <a:ext cx="109728" cy="109728"/>
          </a:xfrm>
          <a:prstGeom prst="ellipse">
            <a:avLst/>
          </a:prstGeom>
          <a:solidFill>
            <a:srgbClr val="2563EB">
              <a:alpha val="40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343400"/>
            <a:ext cx="109728" cy="109728"/>
          </a:xfrm>
          <a:prstGeom prst="ellipse">
            <a:avLst/>
          </a:prstGeom>
          <a:solidFill>
            <a:srgbClr val="2563EB">
              <a:alpha val="40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572000"/>
            <a:ext cx="109728" cy="109728"/>
          </a:xfrm>
          <a:prstGeom prst="ellipse">
            <a:avLst/>
          </a:prstGeom>
          <a:solidFill>
            <a:srgbClr val="2563EB">
              <a:alpha val="40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4114800"/>
            <a:ext cx="109728" cy="109728"/>
          </a:xfrm>
          <a:prstGeom prst="ellipse">
            <a:avLst/>
          </a:prstGeom>
          <a:solidFill>
            <a:srgbClr val="2563EB">
              <a:alpha val="40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4343400"/>
            <a:ext cx="109728" cy="109728"/>
          </a:xfrm>
          <a:prstGeom prst="ellipse">
            <a:avLst/>
          </a:prstGeom>
          <a:solidFill>
            <a:srgbClr val="2563EB">
              <a:alpha val="40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4572000"/>
            <a:ext cx="109728" cy="109728"/>
          </a:xfrm>
          <a:prstGeom prst="ellipse">
            <a:avLst/>
          </a:prstGeom>
          <a:solidFill>
            <a:srgbClr val="2563EB">
              <a:alpha val="40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4114800"/>
            <a:ext cx="109728" cy="109728"/>
          </a:xfrm>
          <a:prstGeom prst="ellipse">
            <a:avLst/>
          </a:prstGeom>
          <a:solidFill>
            <a:srgbClr val="2563EB">
              <a:alpha val="40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4343400"/>
            <a:ext cx="109728" cy="109728"/>
          </a:xfrm>
          <a:prstGeom prst="ellipse">
            <a:avLst/>
          </a:prstGeom>
          <a:solidFill>
            <a:srgbClr val="2563EB">
              <a:alpha val="40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4572000"/>
            <a:ext cx="109728" cy="109728"/>
          </a:xfrm>
          <a:prstGeom prst="ellipse">
            <a:avLst/>
          </a:prstGeom>
          <a:solidFill>
            <a:srgbClr val="2563EB">
              <a:alpha val="40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3000" y="4114800"/>
            <a:ext cx="109728" cy="109728"/>
          </a:xfrm>
          <a:prstGeom prst="ellipse">
            <a:avLst/>
          </a:prstGeom>
          <a:solidFill>
            <a:srgbClr val="2563EB">
              <a:alpha val="40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3000" y="4343400"/>
            <a:ext cx="109728" cy="109728"/>
          </a:xfrm>
          <a:prstGeom prst="ellipse">
            <a:avLst/>
          </a:prstGeom>
          <a:solidFill>
            <a:srgbClr val="2563EB">
              <a:alpha val="40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43000" y="4572000"/>
            <a:ext cx="109728" cy="109728"/>
          </a:xfrm>
          <a:prstGeom prst="ellipse">
            <a:avLst/>
          </a:prstGeom>
          <a:solidFill>
            <a:srgbClr val="2563EB">
              <a:alpha val="40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71600" y="4114800"/>
            <a:ext cx="109728" cy="109728"/>
          </a:xfrm>
          <a:prstGeom prst="ellipse">
            <a:avLst/>
          </a:prstGeom>
          <a:solidFill>
            <a:srgbClr val="2563EB">
              <a:alpha val="40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0" y="4343400"/>
            <a:ext cx="109728" cy="109728"/>
          </a:xfrm>
          <a:prstGeom prst="ellipse">
            <a:avLst/>
          </a:prstGeom>
          <a:solidFill>
            <a:srgbClr val="2563EB">
              <a:alpha val="40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71600" y="4572000"/>
            <a:ext cx="109728" cy="109728"/>
          </a:xfrm>
          <a:prstGeom prst="ellipse">
            <a:avLst/>
          </a:prstGeom>
          <a:solidFill>
            <a:srgbClr val="2563EB">
              <a:alpha val="40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548640" y="1600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Portfolio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548640" y="237744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End-to-End Projects  |  Healthcare · Vision · Environment · Automotive · Mobile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3017520"/>
            <a:ext cx="1920240" cy="1280160"/>
          </a:xfrm>
          <a:prstGeom prst="rect">
            <a:avLst/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0632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48640" y="36118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697480" y="3017520"/>
            <a:ext cx="1920240" cy="1280160"/>
          </a:xfrm>
          <a:prstGeom prst="rect">
            <a:avLst/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697480" y="30632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2697480" y="36118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46320" y="3017520"/>
            <a:ext cx="1920240" cy="1280160"/>
          </a:xfrm>
          <a:prstGeom prst="rect">
            <a:avLst/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46320" y="30632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4846320" y="36118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995160" y="3017520"/>
            <a:ext cx="1920240" cy="1280160"/>
          </a:xfrm>
          <a:prstGeom prst="rect">
            <a:avLst/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995160" y="306324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CNN+RF+LR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6995160" y="36118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Used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Python · TensorFlow · Scikit-learn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at a Glance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3291840" cy="365760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515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566160" y="1051560"/>
            <a:ext cx="1645920" cy="365760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66160" y="10515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212080" y="1051560"/>
            <a:ext cx="1828800" cy="365760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0" y="1051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040880" y="1051560"/>
            <a:ext cx="1645920" cy="365760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10515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417320"/>
            <a:ext cx="3291840" cy="438912"/>
          </a:xfrm>
          <a:prstGeom prst="rect">
            <a:avLst/>
          </a:prstGeom>
          <a:solidFill>
            <a:srgbClr val="EEF2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417320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Sign Language Detection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566160" y="1417320"/>
            <a:ext cx="1645920" cy="438912"/>
          </a:xfrm>
          <a:prstGeom prst="rect">
            <a:avLst/>
          </a:prstGeom>
          <a:solidFill>
            <a:srgbClr val="EEF2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39312" y="1417320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12080" y="1417320"/>
            <a:ext cx="1828800" cy="438912"/>
          </a:xfrm>
          <a:prstGeom prst="rect">
            <a:avLst/>
          </a:prstGeom>
          <a:solidFill>
            <a:srgbClr val="EEF2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85232" y="141732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(TensorFlow/Keras)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040880" y="1417320"/>
            <a:ext cx="1645920" cy="438912"/>
          </a:xfrm>
          <a:prstGeom prst="rect">
            <a:avLst/>
          </a:prstGeom>
          <a:solidFill>
            <a:srgbClr val="EEF2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14032" y="1417320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1892808"/>
            <a:ext cx="3291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1892808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Cover Type Prediction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566160" y="1892808"/>
            <a:ext cx="1645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39312" y="1892808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Classification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212080" y="1892808"/>
            <a:ext cx="1828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85232" y="1892808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040880" y="1892808"/>
            <a:ext cx="1645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14032" y="1892808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ML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2368296"/>
            <a:ext cx="3291840" cy="438912"/>
          </a:xfrm>
          <a:prstGeom prst="rect">
            <a:avLst/>
          </a:prstGeom>
          <a:solidFill>
            <a:srgbClr val="EEF2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2368296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566160" y="2368296"/>
            <a:ext cx="1645920" cy="438912"/>
          </a:xfrm>
          <a:prstGeom prst="rect">
            <a:avLst/>
          </a:prstGeom>
          <a:solidFill>
            <a:srgbClr val="EEF2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39312" y="2368296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212080" y="2368296"/>
            <a:ext cx="1828800" cy="438912"/>
          </a:xfrm>
          <a:prstGeom prst="rect">
            <a:avLst/>
          </a:prstGeom>
          <a:solidFill>
            <a:srgbClr val="EEF2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85232" y="2368296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040880" y="2368296"/>
            <a:ext cx="1645920" cy="438912"/>
          </a:xfrm>
          <a:prstGeom prst="rect">
            <a:avLst/>
          </a:prstGeom>
          <a:solidFill>
            <a:srgbClr val="EEF2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14032" y="2368296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AI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" y="2843784"/>
            <a:ext cx="3291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2843784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Liver Cirrhosis Stage Detection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566160" y="2843784"/>
            <a:ext cx="1645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39312" y="2843784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Classification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212080" y="2843784"/>
            <a:ext cx="1828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85232" y="2843784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040880" y="2843784"/>
            <a:ext cx="1645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14032" y="2843784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AI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74320" y="3319272"/>
            <a:ext cx="3291840" cy="438912"/>
          </a:xfrm>
          <a:prstGeom prst="rect">
            <a:avLst/>
          </a:prstGeom>
          <a:solidFill>
            <a:srgbClr val="EEF2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7472" y="3319272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Phone Price Prediction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566160" y="3319272"/>
            <a:ext cx="1645920" cy="438912"/>
          </a:xfrm>
          <a:prstGeom prst="rect">
            <a:avLst/>
          </a:prstGeom>
          <a:solidFill>
            <a:srgbClr val="EEF2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39312" y="3319272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Classification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212080" y="3319272"/>
            <a:ext cx="1828800" cy="438912"/>
          </a:xfrm>
          <a:prstGeom prst="rect">
            <a:avLst/>
          </a:prstGeom>
          <a:solidFill>
            <a:srgbClr val="EEF2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285232" y="3319272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040880" y="3319272"/>
            <a:ext cx="1645920" cy="438912"/>
          </a:xfrm>
          <a:prstGeom prst="rect">
            <a:avLst/>
          </a:prstGeom>
          <a:solidFill>
            <a:srgbClr val="EEF2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14032" y="3319272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Analytics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274320" y="3794760"/>
            <a:ext cx="3291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47472" y="3794760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Thyroid Cancer Recurrence Detection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3566160" y="3794760"/>
            <a:ext cx="1645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39312" y="3794760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5212080" y="3794760"/>
            <a:ext cx="18288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285232" y="3794760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7040880" y="3794760"/>
            <a:ext cx="1645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114032" y="3794760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Oncology AI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274320" y="4270248"/>
            <a:ext cx="3291840" cy="438912"/>
          </a:xfrm>
          <a:prstGeom prst="rect">
            <a:avLst/>
          </a:prstGeom>
          <a:solidFill>
            <a:srgbClr val="EEF2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47472" y="4270248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Price Prediction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3566160" y="4270248"/>
            <a:ext cx="1645920" cy="438912"/>
          </a:xfrm>
          <a:prstGeom prst="rect">
            <a:avLst/>
          </a:prstGeom>
          <a:solidFill>
            <a:srgbClr val="EEF2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639312" y="4270248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5212080" y="4270248"/>
            <a:ext cx="1828800" cy="438912"/>
          </a:xfrm>
          <a:prstGeom prst="rect">
            <a:avLst/>
          </a:prstGeom>
          <a:solidFill>
            <a:srgbClr val="EEF2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285232" y="4270248"/>
            <a:ext cx="1737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Regressor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7040880" y="4270248"/>
            <a:ext cx="1645920" cy="438912"/>
          </a:xfrm>
          <a:prstGeom prst="rect">
            <a:avLst/>
          </a:prstGeom>
          <a:solidFill>
            <a:srgbClr val="EEF2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114032" y="4270248"/>
            <a:ext cx="1554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AI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5E">
              <a:alpha val="70000"/>
            </a:srgbClr>
          </a:solidFill>
          <a:ln w="12700">
            <a:solidFill>
              <a:srgbClr val="1A1F5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37160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371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73152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Sign Language Detection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603504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· Deep Learning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1115568"/>
            <a:ext cx="416052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1155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" y="1389888"/>
            <a:ext cx="4160520" cy="658368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408176"/>
            <a:ext cx="3977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barrier between ASL users and non-signers due to lack of automated translation systems.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28600" y="2148840"/>
            <a:ext cx="4160520" cy="274320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148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" y="2423160"/>
            <a:ext cx="4160520" cy="56692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441448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ASL Alphabet dataset · 29 classes · Separate train/test folders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8600" y="3090672"/>
            <a:ext cx="41605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0906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" y="3364992"/>
            <a:ext cx="4160520" cy="1536192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383280"/>
            <a:ext cx="3977640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size: 64×64 px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Augmentation: rotation, zoom, shift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 Adam (lr=0.001)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Categorical Cross-Entropy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Epochs: 5, Batch: 32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1115568"/>
            <a:ext cx="425196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111556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/ ARCHITECTURE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1389888"/>
            <a:ext cx="4251960" cy="1481328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1463040"/>
            <a:ext cx="201168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463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(TensorFlow/Keras)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0" y="1810512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Conv2D(32) → MaxPool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Conv2D(64) → MaxPool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Conv2D(128) → MaxPool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Dense(256) + Dropout(0.5)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Output (29 classes)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2944368"/>
            <a:ext cx="4251960" cy="25603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294436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3200400"/>
            <a:ext cx="4251960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3200400"/>
            <a:ext cx="4069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  ·   TensorFlow / Keras   ·   OpenCV   ·   ImageDataGenerator   ·   Matplotlib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4005072"/>
            <a:ext cx="4251960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400507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&amp; FUTURE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4261104"/>
            <a:ext cx="4251960" cy="64008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4279392"/>
            <a:ext cx="4069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train &amp; validation accuracy across 5 epochs with augmentation preventing overfitting.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937760"/>
            <a:ext cx="82296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1 of 7  |  Computer Vision · Deep Learning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5E">
              <a:alpha val="70000"/>
            </a:srgbClr>
          </a:solidFill>
          <a:ln w="12700">
            <a:solidFill>
              <a:srgbClr val="1A1F5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37160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371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73152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Cover Type Prediction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603504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Classification · Environmental ML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1115568"/>
            <a:ext cx="41605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1155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" y="1389888"/>
            <a:ext cx="4160520" cy="658368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408176"/>
            <a:ext cx="3977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forest survey methods are costly and slow. Need automated cover-type classification for 30m×30m patches.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28600" y="2148840"/>
            <a:ext cx="4160520" cy="274320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148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" y="2423160"/>
            <a:ext cx="4160520" cy="56692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441448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· Roosevelt National Forest, CO · 54 features (elevation, soil, wilderness, hillshade)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8600" y="3090672"/>
            <a:ext cx="41605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0906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" y="3364992"/>
            <a:ext cx="4160520" cy="1536192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383280"/>
            <a:ext cx="3977640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features (10 continuous + 44 binary)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cover types: Spruce/Fir to Krummholz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feature: Elevation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+ classification report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1115568"/>
            <a:ext cx="425196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111556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/ ARCHITECTURE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1389888"/>
            <a:ext cx="4251960" cy="1481328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1463040"/>
            <a:ext cx="201168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463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0" y="1810512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n_estimators: 200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preprocessing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train-test split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ranking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2944368"/>
            <a:ext cx="4251960" cy="25603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294436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3200400"/>
            <a:ext cx="4251960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3200400"/>
            <a:ext cx="4069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  ·   Scikit-learn   ·   Pandas / NumPy   ·   Matplotlib / Seaborn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4005072"/>
            <a:ext cx="4251960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400507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&amp; FUTURE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4261104"/>
            <a:ext cx="4251960" cy="64008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4279392"/>
            <a:ext cx="4069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accuracy across 7 classes. Elevation identified as the most critical predictor of forest cover type.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937760"/>
            <a:ext cx="82296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2 of 7  |  Multi-Class Classification · Environmental ML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5E">
              <a:alpha val="70000"/>
            </a:srgbClr>
          </a:solidFill>
          <a:ln w="12700">
            <a:solidFill>
              <a:srgbClr val="1A1F5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37160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371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73152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Prediction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603504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· Healthcare AI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1115568"/>
            <a:ext cx="4160520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1155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" y="1389888"/>
            <a:ext cx="4160520" cy="658368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408176"/>
            <a:ext cx="3977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Cardiovascular disease is a leading cause of mortality. Early risk detection can save lives through preventive care.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28600" y="2148840"/>
            <a:ext cx="4160520" cy="274320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148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" y="2423160"/>
            <a:ext cx="4160520" cy="56692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441448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 dataset · 11 clinical features · Binary target (0=Normal, 1=Heart Disease)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8600" y="3090672"/>
            <a:ext cx="41605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0906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" y="3364992"/>
            <a:ext cx="4160520" cy="1536192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383280"/>
            <a:ext cx="3977640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age, sex, ECG, cholesterol, BP, ST slope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train-test split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Exported as .pkl for deployment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heatmap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1115568"/>
            <a:ext cx="425196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111556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/ ARCHITECTURE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1389888"/>
            <a:ext cx="4251960" cy="1481328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1463040"/>
            <a:ext cx="201168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463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0" y="1810512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max_iter: 1000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Solver: lbfgs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sigmoid output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feature scaling applied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2944368"/>
            <a:ext cx="4251960" cy="25603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294436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3200400"/>
            <a:ext cx="4251960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3200400"/>
            <a:ext cx="4069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  ·   Scikit-learn   ·   Pandas / NumPy   ·   Matplotlib / Seaborn   ·   Pickle (model export)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4005072"/>
            <a:ext cx="4251960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400507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&amp; FUTURE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4261104"/>
            <a:ext cx="4251960" cy="64008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4279392"/>
            <a:ext cx="4069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achieved solid accuracy. Interpretable coefficients provide clinically explainable predictions.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937760"/>
            <a:ext cx="82296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 of 7  |  Binary Classification · Healthcare AI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5E">
              <a:alpha val="70000"/>
            </a:srgbClr>
          </a:solidFill>
          <a:ln w="12700">
            <a:solidFill>
              <a:srgbClr val="1A1F5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37160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371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73152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Liver Cirrhosis Stage Detection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603504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Classification · Healthcare AI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1115568"/>
            <a:ext cx="416052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1155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" y="1389888"/>
            <a:ext cx="4160520" cy="658368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408176"/>
            <a:ext cx="3977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Liver cirrhosis staging typically requires invasive biopsy. An ML model on clinical indicators can provide non-invasive staging.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28600" y="2148840"/>
            <a:ext cx="4160520" cy="274320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148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" y="2423160"/>
            <a:ext cx="4160520" cy="56692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441448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Liver cirrhosis patient dataset · Mixed clinical &amp; biochemical features · Target: Stage (1/2/3)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8600" y="3090672"/>
            <a:ext cx="41605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0906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" y="3364992"/>
            <a:ext cx="4160520" cy="1536192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383280"/>
            <a:ext cx="3977640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Multi-class: 3 stage outputs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vars one-hot encoded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Exported as liver_cirrhosis_model.pkl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visualization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1115568"/>
            <a:ext cx="425196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111556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/ ARCHITECTURE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1389888"/>
            <a:ext cx="4251960" cy="1481328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1463040"/>
            <a:ext cx="201168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463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0" y="1810512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RF (n_estimators=100)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dropna() for missing values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pd.get_dummies() encoding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train-test split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2944368"/>
            <a:ext cx="4251960" cy="25603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294436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3200400"/>
            <a:ext cx="4251960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3200400"/>
            <a:ext cx="4069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  ·   Scikit-learn   ·   Pandas / NumPy   ·   Matplotlib / Seaborn   ·   Pickle (model export)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4005072"/>
            <a:ext cx="4251960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400507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&amp; FUTURE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4261104"/>
            <a:ext cx="4251960" cy="64008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4279392"/>
            <a:ext cx="4069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accurately classified all three cirrhosis stages from encoded clinical data.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937760"/>
            <a:ext cx="82296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4 of 7  |  Multi-Class Classification · Healthcare AI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5E">
              <a:alpha val="70000"/>
            </a:srgbClr>
          </a:solidFill>
          <a:ln w="12700">
            <a:solidFill>
              <a:srgbClr val="1A1F5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37160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371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73152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Phone Price Prediction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603504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Classification · Market Analytics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1115568"/>
            <a:ext cx="416052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1155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" y="1389888"/>
            <a:ext cx="4160520" cy="658368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408176"/>
            <a:ext cx="3977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pricing influenced by complex hardware specs. Automated classification helps consumers and manufacturers.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28600" y="2148840"/>
            <a:ext cx="4160520" cy="274320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148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" y="2423160"/>
            <a:ext cx="4160520" cy="56692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441448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phone dataset · 20 feature columns · 4-class price_range target (0–3)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8600" y="3090672"/>
            <a:ext cx="41605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0906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" y="3364992"/>
            <a:ext cx="4160520" cy="1536192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383280"/>
            <a:ext cx="3977640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is strongest price predictor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Battery, pixel resolution, 4G support key features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report per price tier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Exported as mobile_price_model.pkl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1115568"/>
            <a:ext cx="425196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111556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/ ARCHITECTURE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1389888"/>
            <a:ext cx="4251960" cy="1481328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1463040"/>
            <a:ext cx="201168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463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0" y="1810512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n_estimators: 100 (default)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train-test split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scaling required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4-class softmax output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2944368"/>
            <a:ext cx="4251960" cy="25603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294436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3200400"/>
            <a:ext cx="4251960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3200400"/>
            <a:ext cx="4069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  ·   Scikit-learn   ·   Pandas / NumPy   ·   Matplotlib / Seaborn   ·   Pickle (model export)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4005072"/>
            <a:ext cx="4251960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400507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&amp; FUTURE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4261104"/>
            <a:ext cx="4251960" cy="64008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4279392"/>
            <a:ext cx="4069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multi-class accuracy. Misclassifications only between adjacent price tiers (expected boundary behavior).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937760"/>
            <a:ext cx="82296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5 of 7  |  Multi-Class Classification · Market Analytics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5E">
              <a:alpha val="70000"/>
            </a:srgbClr>
          </a:solidFill>
          <a:ln w="12700">
            <a:solidFill>
              <a:srgbClr val="1A1F5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37160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371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73152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Thyroid Cancer Recurrence Detection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603504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· Oncology AI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1115568"/>
            <a:ext cx="4160520" cy="2743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1155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" y="1389888"/>
            <a:ext cx="4160520" cy="658368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408176"/>
            <a:ext cx="3977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Thyroid cancer survivors face recurrence risk. Identifying high-risk patients enables targeted follow-up care.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28600" y="2148840"/>
            <a:ext cx="4160520" cy="274320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148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" y="2423160"/>
            <a:ext cx="4160520" cy="56692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441448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Thyroid cancer patient dataset · 17 columns (16 features + Recurred) · All categorical encoded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8600" y="3090672"/>
            <a:ext cx="41605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0906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" y="3364992"/>
            <a:ext cx="4160520" cy="1536192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383280"/>
            <a:ext cx="3977640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Stage, Response, Risk = top predictors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LabelEncoder on all object-type cols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+ classification report + CM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Exported as thyroid_recurrence_model.pkl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1115568"/>
            <a:ext cx="425196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111556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/ ARCHITECTURE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1389888"/>
            <a:ext cx="4251960" cy="1481328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1463040"/>
            <a:ext cx="201168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463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0" y="1810512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n_estimators: 100, random_state: 42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LabelEncoder for all categorical cols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ranking (16 vars)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Exported via Joblib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2944368"/>
            <a:ext cx="4251960" cy="25603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294436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3200400"/>
            <a:ext cx="4251960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3200400"/>
            <a:ext cx="4069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  ·   Scikit-learn   ·   Pandas / NumPy   ·   Matplotlib / Seaborn   ·   Joblib (model export)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4005072"/>
            <a:ext cx="4251960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400507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&amp; FUTURE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4261104"/>
            <a:ext cx="4251960" cy="64008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4279392"/>
            <a:ext cx="4069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accuracy. Feature importance confirmed Stage and Treatment Response as primary recurrence predictors.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937760"/>
            <a:ext cx="82296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6 of 7  |  Binary Classification · Oncology AI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F5E">
              <a:alpha val="70000"/>
            </a:srgbClr>
          </a:solidFill>
          <a:ln w="12700">
            <a:solidFill>
              <a:srgbClr val="1A1F5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37160"/>
            <a:ext cx="658368" cy="6583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371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1560" y="73152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Price Prediction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603504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· Automotive AI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1115568"/>
            <a:ext cx="416052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1155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" y="1389888"/>
            <a:ext cx="4160520" cy="658368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408176"/>
            <a:ext cx="3977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pricing depends on make, year, mileage, engine, and many other factors. Manual estimation is inconsistent.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28600" y="2148840"/>
            <a:ext cx="4160520" cy="274320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148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" y="2423160"/>
            <a:ext cx="4160520" cy="56692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441448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dataset · 17 columns · Mixed numerical &amp; categorical · Target: price (continuous USD)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28600" y="3090672"/>
            <a:ext cx="416052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0906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HIGHLIGHTS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" y="3364992"/>
            <a:ext cx="4160520" cy="1536192"/>
          </a:xfrm>
          <a:prstGeom prst="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383280"/>
            <a:ext cx="3977640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output: continuous USD price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features: Year, Mileage, Make, Engine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 for model evaluation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Exported as vehicle_price_model.pkl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1115568"/>
            <a:ext cx="425196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111556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/ ARCHITECTURE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1389888"/>
            <a:ext cx="4251960" cy="1481328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1463040"/>
            <a:ext cx="201168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463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Regressor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0" y="1810512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RF Regressor (n_estimators=100)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dropna() + drop name/description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pd.get_dummies() for categoricals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R² Score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2944368"/>
            <a:ext cx="4251960" cy="25603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294436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3200400"/>
            <a:ext cx="4251960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3200400"/>
            <a:ext cx="4069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  ·   Scikit-learn   ·   Pandas / NumPy   ·   Matplotlib / Seaborn   ·   Pickle (model export)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4005072"/>
            <a:ext cx="4251960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400507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&amp; FUTURE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4261104"/>
            <a:ext cx="4251960" cy="64008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4279392"/>
            <a:ext cx="40690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R² score — model explains high proportion of variance in vehicle prices. Feature importance reveals year and mileage as dominant predictors.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937760"/>
            <a:ext cx="82296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7 of 7  |  Regression · Automotive AI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Comparison Summary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365760" cy="347472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5156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" y="1051560"/>
            <a:ext cx="3291840" cy="347472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05156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86200" y="1051560"/>
            <a:ext cx="1920240" cy="347472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86200" y="10515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06440" y="1051560"/>
            <a:ext cx="1737360" cy="347472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06440" y="105156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543800" y="1051560"/>
            <a:ext cx="1554480" cy="347472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43800" y="105156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Metric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1399032"/>
            <a:ext cx="365760" cy="420624"/>
          </a:xfrm>
          <a:prstGeom prst="rect">
            <a:avLst/>
          </a:prstGeom>
          <a:solidFill>
            <a:srgbClr val="EEF2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399032"/>
            <a:ext cx="320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" y="1399032"/>
            <a:ext cx="3291840" cy="420624"/>
          </a:xfrm>
          <a:prstGeom prst="rect">
            <a:avLst/>
          </a:prstGeom>
          <a:solidFill>
            <a:srgbClr val="EEF2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1399032"/>
            <a:ext cx="3246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 Detection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886200" y="1399032"/>
            <a:ext cx="1920240" cy="420624"/>
          </a:xfrm>
          <a:prstGeom prst="rect">
            <a:avLst/>
          </a:prstGeom>
          <a:solidFill>
            <a:srgbClr val="EEF2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0" y="1399032"/>
            <a:ext cx="1874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(TF/Keras)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806440" y="1399032"/>
            <a:ext cx="1737360" cy="420624"/>
          </a:xfrm>
          <a:prstGeom prst="rect">
            <a:avLst/>
          </a:prstGeom>
          <a:solidFill>
            <a:srgbClr val="EEF2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52160" y="1399032"/>
            <a:ext cx="1691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543800" y="1399032"/>
            <a:ext cx="1554480" cy="420624"/>
          </a:xfrm>
          <a:prstGeom prst="rect">
            <a:avLst/>
          </a:prstGeom>
          <a:solidFill>
            <a:srgbClr val="EEF2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0" y="1399032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/ Val Acc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28600" y="1856232"/>
            <a:ext cx="3657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1856232"/>
            <a:ext cx="320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94360" y="1856232"/>
            <a:ext cx="32918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1856232"/>
            <a:ext cx="3246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Cover Prediction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886200" y="1856232"/>
            <a:ext cx="1920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31920" y="1856232"/>
            <a:ext cx="1874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806440" y="1856232"/>
            <a:ext cx="1737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52160" y="1856232"/>
            <a:ext cx="1691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(7)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543800" y="1856232"/>
            <a:ext cx="15544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89520" y="1856232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F1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28600" y="2313432"/>
            <a:ext cx="365760" cy="420624"/>
          </a:xfrm>
          <a:prstGeom prst="rect">
            <a:avLst/>
          </a:prstGeom>
          <a:solidFill>
            <a:srgbClr val="EEF2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2313432"/>
            <a:ext cx="320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94360" y="2313432"/>
            <a:ext cx="3291840" cy="420624"/>
          </a:xfrm>
          <a:prstGeom prst="rect">
            <a:avLst/>
          </a:prstGeom>
          <a:solidFill>
            <a:srgbClr val="EEF2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2313432"/>
            <a:ext cx="3246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Disease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886200" y="2313432"/>
            <a:ext cx="1920240" cy="420624"/>
          </a:xfrm>
          <a:prstGeom prst="rect">
            <a:avLst/>
          </a:prstGeom>
          <a:solidFill>
            <a:srgbClr val="EEF2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31920" y="2313432"/>
            <a:ext cx="1874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806440" y="2313432"/>
            <a:ext cx="1737360" cy="420624"/>
          </a:xfrm>
          <a:prstGeom prst="rect">
            <a:avLst/>
          </a:prstGeom>
          <a:solidFill>
            <a:srgbClr val="EEF2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52160" y="2313432"/>
            <a:ext cx="1691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543800" y="2313432"/>
            <a:ext cx="1554480" cy="420624"/>
          </a:xfrm>
          <a:prstGeom prst="rect">
            <a:avLst/>
          </a:prstGeom>
          <a:solidFill>
            <a:srgbClr val="EEF2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89520" y="2313432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CM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28600" y="2770632"/>
            <a:ext cx="3657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2770632"/>
            <a:ext cx="320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594360" y="2770632"/>
            <a:ext cx="32918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2770632"/>
            <a:ext cx="3246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Liver Cirrhosis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3886200" y="2770632"/>
            <a:ext cx="1920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31920" y="2770632"/>
            <a:ext cx="1874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5806440" y="2770632"/>
            <a:ext cx="1737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852160" y="2770632"/>
            <a:ext cx="1691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(3)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7543800" y="2770632"/>
            <a:ext cx="15544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589520" y="2770632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CM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228600" y="3227832"/>
            <a:ext cx="365760" cy="420624"/>
          </a:xfrm>
          <a:prstGeom prst="rect">
            <a:avLst/>
          </a:prstGeom>
          <a:solidFill>
            <a:srgbClr val="EEF2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4320" y="3227832"/>
            <a:ext cx="320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594360" y="3227832"/>
            <a:ext cx="3291840" cy="420624"/>
          </a:xfrm>
          <a:prstGeom prst="rect">
            <a:avLst/>
          </a:prstGeom>
          <a:solidFill>
            <a:srgbClr val="EEF2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0080" y="3227832"/>
            <a:ext cx="3246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Price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3886200" y="3227832"/>
            <a:ext cx="1920240" cy="420624"/>
          </a:xfrm>
          <a:prstGeom prst="rect">
            <a:avLst/>
          </a:prstGeom>
          <a:solidFill>
            <a:srgbClr val="EEF2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931920" y="3227832"/>
            <a:ext cx="1874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5806440" y="3227832"/>
            <a:ext cx="1737360" cy="420624"/>
          </a:xfrm>
          <a:prstGeom prst="rect">
            <a:avLst/>
          </a:prstGeom>
          <a:solidFill>
            <a:srgbClr val="EEF2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852160" y="3227832"/>
            <a:ext cx="1691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(4)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7543800" y="3227832"/>
            <a:ext cx="1554480" cy="420624"/>
          </a:xfrm>
          <a:prstGeom prst="rect">
            <a:avLst/>
          </a:prstGeom>
          <a:solidFill>
            <a:srgbClr val="EEF2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589520" y="3227832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F1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228600" y="3685032"/>
            <a:ext cx="3657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74320" y="3685032"/>
            <a:ext cx="320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594360" y="3685032"/>
            <a:ext cx="32918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" y="3685032"/>
            <a:ext cx="3246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Thyroid Cancer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3886200" y="3685032"/>
            <a:ext cx="1920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931920" y="3685032"/>
            <a:ext cx="1874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5806440" y="3685032"/>
            <a:ext cx="17373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852160" y="3685032"/>
            <a:ext cx="1691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7543800" y="3685032"/>
            <a:ext cx="15544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589520" y="3685032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F1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228600" y="4142232"/>
            <a:ext cx="365760" cy="420624"/>
          </a:xfrm>
          <a:prstGeom prst="rect">
            <a:avLst/>
          </a:prstGeom>
          <a:solidFill>
            <a:srgbClr val="EEF2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74320" y="4142232"/>
            <a:ext cx="320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594360" y="4142232"/>
            <a:ext cx="3291840" cy="420624"/>
          </a:xfrm>
          <a:prstGeom prst="rect">
            <a:avLst/>
          </a:prstGeom>
          <a:solidFill>
            <a:srgbClr val="EEF2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40080" y="4142232"/>
            <a:ext cx="3246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Price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3886200" y="4142232"/>
            <a:ext cx="1920240" cy="420624"/>
          </a:xfrm>
          <a:prstGeom prst="rect">
            <a:avLst/>
          </a:prstGeom>
          <a:solidFill>
            <a:srgbClr val="EEF2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931920" y="4142232"/>
            <a:ext cx="1874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Regressor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5806440" y="4142232"/>
            <a:ext cx="1737360" cy="420624"/>
          </a:xfrm>
          <a:prstGeom prst="rect">
            <a:avLst/>
          </a:prstGeom>
          <a:solidFill>
            <a:srgbClr val="EEF2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852160" y="4142232"/>
            <a:ext cx="1691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7543800" y="4142232"/>
            <a:ext cx="1554480" cy="420624"/>
          </a:xfrm>
          <a:prstGeom prst="rect">
            <a:avLst/>
          </a:prstGeom>
          <a:solidFill>
            <a:srgbClr val="EEF2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589520" y="4142232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F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3520440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520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74520" y="352044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74520" y="3520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17520" y="3520440"/>
            <a:ext cx="502920" cy="5029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3520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60520" y="3520440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60520" y="3520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03520" y="352044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0" y="3520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46520" y="3520440"/>
            <a:ext cx="502920" cy="50292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3520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589520" y="352044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0" y="3520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P7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000" dirty="0"/>
          </a:p>
        </p:txBody>
      </p:sp>
      <p:sp>
        <p:nvSpPr>
          <p:cNvPr id="19" name="Text 17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Machine Learning Projects  |  Python · TensorFlow · Scikit-learn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2011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with: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74320" y="2395728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Python 3     🔵 TensorFlow/Keras     🌲 Scikit-learn     📊 Pandas/NumPy     📈 Matplotlib/Seaborn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2971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 Covered: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" y="32461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 ·  Computer Vision  ·  Environmental Science  ·  Automotive  ·  Mobile Technology  ·  Oncology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on LinkedIn | GitHub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E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deploy · Open for collaboration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2026-03-17T18:25:41Z</dcterms:created>
  <dcterms:modified xsi:type="dcterms:W3CDTF">2026-03-17T18:25:41Z</dcterms:modified>
</cp:coreProperties>
</file>